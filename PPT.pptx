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itter" panose="020B0604020202020204" charset="0"/>
      <p:regular r:id="rId12"/>
    </p:embeddedFont>
    <p:embeddedFont>
      <p:font typeface="Bitter Bold" panose="020B0604020202020204" charset="0"/>
      <p:regular r:id="rId13"/>
    </p:embeddedFont>
    <p:embeddedFont>
      <p:font typeface="Bitter ExtraBold" panose="020B0604020202020204" charset="0"/>
      <p:regular r:id="rId14"/>
    </p:embeddedFont>
    <p:embeddedFont>
      <p:font typeface="Public Sans" panose="020B0604020202020204" charset="0"/>
      <p:regular r:id="rId15"/>
    </p:embeddedFont>
    <p:embeddedFont>
      <p:font typeface="Public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33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8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8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E5F0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8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01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99816"/>
            <a:ext cx="5181470" cy="2933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0" spc="-44" dirty="0">
                <a:solidFill>
                  <a:srgbClr val="FFFFFF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RetailIQ Sales Analytics: Protecting Margin and Cutting Returns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4830068"/>
            <a:ext cx="1651256" cy="328116"/>
          </a:xfrm>
          <a:prstGeom prst="rect">
            <a:avLst/>
          </a:prstGeom>
          <a:solidFill>
            <a:srgbClr val="FFE0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78034" y="4890492"/>
            <a:ext cx="201915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14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Executive review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7477" y="457200"/>
            <a:ext cx="6807030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Discounts and returns are eroding profit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4927477" y="1667470"/>
            <a:ext cx="6807030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927477" y="1667470"/>
            <a:ext cx="6807030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156071" y="1979414"/>
            <a:ext cx="634984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3.36% margin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at 25% discount vs 27.52% with none; 5,057 unprofitable orders at 20% and 25%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156071" y="3153172"/>
            <a:ext cx="634984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50.1% return rate: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25,026 of 50,000 orders, tying up $1.18B in gross order value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56071" y="4326930"/>
            <a:ext cx="634984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CSAT 3.00 / 5.00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on average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156071" y="5187752"/>
            <a:ext cx="634984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Why now: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$2.36B revenue and $403.7M gross profit are billed figures before refunds, overstating performance by about 50%, and Diwali is coming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156071" y="2872978"/>
            <a:ext cx="6349841" cy="12700"/>
          </a:xfrm>
          <a:prstGeom prst="rect">
            <a:avLst/>
          </a:prstGeom>
          <a:solidFill>
            <a:srgbClr val="AEB9C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156071" y="4046736"/>
            <a:ext cx="6349841" cy="12700"/>
          </a:xfrm>
          <a:prstGeom prst="rect">
            <a:avLst/>
          </a:prstGeom>
          <a:solidFill>
            <a:srgbClr val="AEB9C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156071" y="4907558"/>
            <a:ext cx="6349841" cy="12700"/>
          </a:xfrm>
          <a:prstGeom prst="rect">
            <a:avLst/>
          </a:prstGeom>
          <a:solidFill>
            <a:srgbClr val="AEB9C4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50,000 orders over 25 months, analyzed at order level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5486263" cy="22142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189" y="166747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83" y="1934170"/>
            <a:ext cx="5029074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0" spc="-9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50,000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783" y="2893020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transactions in the Kaggle RetailIQ dataset; 20 attributes enriched to 28 fields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1667470"/>
            <a:ext cx="5486263" cy="22142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48244" y="166747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76838" y="1934170"/>
            <a:ext cx="5029074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0" spc="-9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25 months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76838" y="2893020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July 2024 to July 2026; 50/50 online ($1.176B) and offline ($1.180B)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189" y="4186535"/>
            <a:ext cx="5486263" cy="22142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189" y="4186535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783" y="4453235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Excluded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783" y="4917380"/>
            <a:ext cx="502907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City-level routing (corrupted city-state mapping) and customer lifetime value (non-unique customer IDs)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8244" y="4186535"/>
            <a:ext cx="5486263" cy="22142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248244" y="4186535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76838" y="4453235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Kept separate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76838" y="4917380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Gross revenue from net cash realization, because returns are unadjusted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We tested discount depth, trends and channel returns against six targets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4754741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189" y="1667470"/>
            <a:ext cx="4754741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83" y="1934170"/>
            <a:ext cx="42975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2398316"/>
            <a:ext cx="4297553" cy="273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Discount elasticity: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correlation and t-tests across 0% to 25% bands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Trend and channel: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monthly revenue by category, Chi-Square on online vs offline returns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Assumptions: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gross accounting baseline; synthetic, near-uniform distributions read with caution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516623" y="1667470"/>
            <a:ext cx="6217884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516623" y="1667470"/>
            <a:ext cx="6217884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45217" y="1934170"/>
            <a:ext cx="576069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Targets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5217" y="2398316"/>
          <a:ext cx="5760695" cy="3044748"/>
        </p:xfrm>
        <a:graphic>
          <a:graphicData uri="http://schemas.openxmlformats.org/drawingml/2006/table">
            <a:tbl>
              <a:tblPr/>
              <a:tblGrid>
                <a:gridCol w="2304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Metric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Now to target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Margin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17.1% to over 20%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Loss-making orders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5,057 to 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Average discount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Under 10%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Returns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50.1% to under 25%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CSAT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3.00 to over 4.00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4284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AOV</a:t>
                      </a:r>
                      <a:endParaRPr lang="en-US" sz="15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4284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$47,110 to over $55,000</a:t>
                      </a:r>
                      <a:endParaRPr lang="en-US" sz="15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Baseline: $2.36B revenue, 17.14% margin, half of orders returned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5851974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189" y="1667470"/>
            <a:ext cx="5851974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066375"/>
              </p:ext>
            </p:extLst>
          </p:nvPr>
        </p:nvGraphicFramePr>
        <p:xfrm>
          <a:off x="686089" y="1847476"/>
          <a:ext cx="4921609" cy="4451705"/>
        </p:xfrm>
        <a:graphic>
          <a:graphicData uri="http://schemas.openxmlformats.org/drawingml/2006/table">
            <a:tbl>
              <a:tblPr/>
              <a:tblGrid>
                <a:gridCol w="198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16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Metric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Value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Gross revenue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$2.356B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Gross profit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$403.67M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3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Blended margin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17.14%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Return rate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50.05%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CSAT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3.003 / 5</a:t>
                      </a: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3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Delivery lead time</a:t>
                      </a:r>
                      <a:endParaRPr lang="en-US" sz="1400" b="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4284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3.988 days</a:t>
                      </a:r>
                      <a:endParaRPr lang="en-US" sz="1400" b="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b="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613856" y="1667470"/>
            <a:ext cx="5120651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613856" y="1667470"/>
            <a:ext cx="5120651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842450" y="1934170"/>
            <a:ext cx="466346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Where it concentrates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42450" y="2398316"/>
            <a:ext cx="4663462" cy="210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Mean order $47,110; return rate CI 49.61% to 50.49%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Electronics and Home Appliances: 81.5% of revenue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Monitors 51.61% and Laptops 51.3% return rates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Margin collapses once discounts pass 20%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6949306" cy="524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189" y="1160760"/>
            <a:ext cx="6949306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427460"/>
            <a:ext cx="6349841" cy="381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11188" y="1160760"/>
            <a:ext cx="4023319" cy="524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711188" y="1160760"/>
            <a:ext cx="4023319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939782" y="1427460"/>
            <a:ext cx="3566130" cy="284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0%: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27.52% margin, no loss-making orders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 to 10%: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21.59% margin, no loss-making orders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11 to 20%: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12.18% margin, 1,700 loss-making orders at 20%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21%+: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3.36% margin, 3,357 loss-making orders at 25%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Fixing both could add $100M to $115M in profit and free $590M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189" y="1667470"/>
            <a:ext cx="5410065" cy="3160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$25M+ saved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by phasing out 20% and 25% discounts, stopping 5,057 loss-making orders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17.1% to 21.5%+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margin by capping discounts at 10 to 15%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12,500 fewer shipments</a:t>
            </a: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15,000+ handling hours by halving returns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Conservative: +$45M to $60M, $350M freed. Base: +$100M to $115M, $590M freed. Aggressive: +$140M+, $825M freed, margin above 23.5%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1667470"/>
            <a:ext cx="5079873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8838979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Three initiatives over 90 days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4267093" cy="28458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189" y="1160760"/>
            <a:ext cx="4267093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83" y="1434405"/>
            <a:ext cx="73370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2299" y="1427460"/>
            <a:ext cx="353338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Days 1 to 30: enforce discount guardrails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2299" y="2212876"/>
            <a:ext cx="3533389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 20% and 25% codes, cap at 10 to 15%, CCO approval above 15%. Owners: CCO, Head of Pricing. Gate: zero loss-making orders, average discount under 10%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074" y="1160760"/>
            <a:ext cx="4267093" cy="28458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074" y="1160760"/>
            <a:ext cx="4267093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57668" y="1434405"/>
            <a:ext cx="769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9902" y="1427460"/>
            <a:ext cx="3497671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Days 31 to 60: quality and fulfillment audit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9902" y="2212876"/>
            <a:ext cx="349767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Monitors and Laptops (packaging, listings, delivery). Owners: Operations, QA, CX. Gate: returns under 25%, CSAT over 4.00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189" y="4311452"/>
            <a:ext cx="8838979" cy="190678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189" y="4311452"/>
            <a:ext cx="8838979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783" y="4585097"/>
            <a:ext cx="77140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0001" y="4578152"/>
            <a:ext cx="806757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Days 61 to 90+: shift spend to Cameras, Air Conditioners, Laptops and launch B2B enterprise tiers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0001" y="5363567"/>
            <a:ext cx="80675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Owners: CRO, Digital Marketing, B2B Sales. Gate: margin over 20%, B2B share over 30%, AOV over $55,000</a:t>
            </a:r>
            <a:endParaRPr lang="en-US" sz="17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What the data can't tell us, and how we'll close the gaps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4754741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189" y="1667470"/>
            <a:ext cx="4754741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83" y="1934170"/>
            <a:ext cx="42975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Limits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2398316"/>
            <a:ext cx="4297553" cy="210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freight, gateway, CAC or restocking costs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City fields corrupted; customer IDs not unique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Uniform ratings and channel split suggest synthetic data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516623" y="1667470"/>
            <a:ext cx="6217884" cy="4733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516623" y="1667470"/>
            <a:ext cx="6217884" cy="38100"/>
          </a:xfrm>
          <a:prstGeom prst="rect">
            <a:avLst/>
          </a:prstGeom>
          <a:solidFill>
            <a:srgbClr val="142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745217" y="1934170"/>
            <a:ext cx="576069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45217" y="2398316"/>
            <a:ext cx="5989289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06400" indent="-406400" algn="l">
              <a:lnSpc>
                <a:spcPct val="121000"/>
              </a:lnSpc>
              <a:buSzPct val="100000"/>
              <a:buChar char="​"/>
            </a:pPr>
            <a:r>
              <a:rPr lang="en-US" sz="2000" dirty="0">
                <a:solidFill>
                  <a:srgbClr val="525E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A/B discount-cap pilots at 5%, 10% and 12%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45217" y="2455466"/>
            <a:ext cx="253994" cy="254000"/>
          </a:xfrm>
          <a:prstGeom prst="roundRect">
            <a:avLst>
              <a:gd name="adj" fmla="val 4500"/>
            </a:avLst>
          </a:prstGeom>
          <a:solidFill>
            <a:srgbClr val="14284B"/>
          </a:solidFill>
          <a:ln w="31749">
            <a:solidFill>
              <a:srgbClr val="14284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016" y="2518966"/>
            <a:ext cx="152396" cy="127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45217" y="2817416"/>
            <a:ext cx="576069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21000"/>
              </a:lnSpc>
              <a:buSzPct val="100000"/>
              <a:buChar char="​"/>
            </a:pPr>
            <a:r>
              <a:rPr lang="en-US" sz="2000" dirty="0">
                <a:solidFill>
                  <a:srgbClr val="525E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Reverse logistics cost audit for a true net cash model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745217" y="2874566"/>
            <a:ext cx="253994" cy="254000"/>
          </a:xfrm>
          <a:prstGeom prst="roundRect">
            <a:avLst>
              <a:gd name="adj" fmla="val 4500"/>
            </a:avLst>
          </a:prstGeom>
          <a:solidFill>
            <a:srgbClr val="14284B"/>
          </a:solidFill>
          <a:ln w="31749">
            <a:solidFill>
              <a:srgbClr val="14284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016" y="2938066"/>
            <a:ext cx="152396" cy="127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45217" y="3604816"/>
            <a:ext cx="576069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21000"/>
              </a:lnSpc>
              <a:buSzPct val="100000"/>
              <a:buChar char="​"/>
            </a:pPr>
            <a:r>
              <a:rPr lang="en-US" sz="2000" dirty="0">
                <a:solidFill>
                  <a:srgbClr val="525E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identity cleanse to enable cohort and CLV work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745217" y="3661966"/>
            <a:ext cx="253994" cy="254000"/>
          </a:xfrm>
          <a:prstGeom prst="roundRect">
            <a:avLst>
              <a:gd name="adj" fmla="val 4500"/>
            </a:avLst>
          </a:prstGeom>
          <a:solidFill>
            <a:srgbClr val="14284B"/>
          </a:solidFill>
          <a:ln w="31749">
            <a:solidFill>
              <a:srgbClr val="14284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016" y="3725466"/>
            <a:ext cx="152396" cy="127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45217" y="4392216"/>
            <a:ext cx="576069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21000"/>
              </a:lnSpc>
              <a:buSzPct val="100000"/>
              <a:buChar char="​"/>
            </a:pPr>
            <a:r>
              <a:rPr lang="en-US" sz="2000" dirty="0">
                <a:solidFill>
                  <a:srgbClr val="525E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 root-cause sampling on Monitors (51.6%) and Laptops (51.3%)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745217" y="4449366"/>
            <a:ext cx="253994" cy="254000"/>
          </a:xfrm>
          <a:prstGeom prst="roundRect">
            <a:avLst>
              <a:gd name="adj" fmla="val 4500"/>
            </a:avLst>
          </a:prstGeom>
          <a:solidFill>
            <a:srgbClr val="14284B"/>
          </a:solidFill>
          <a:ln w="31749">
            <a:solidFill>
              <a:srgbClr val="14284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016" y="4512866"/>
            <a:ext cx="152396" cy="12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708</Words>
  <Application>Microsoft Office PowerPoint</Application>
  <PresentationFormat>Widescreen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Bitter Bold</vt:lpstr>
      <vt:lpstr>Bitter ExtraBold</vt:lpstr>
      <vt:lpstr>Arial</vt:lpstr>
      <vt:lpstr>Public Sans</vt:lpstr>
      <vt:lpstr>Bitter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Akash Ojha</cp:lastModifiedBy>
  <cp:revision>2</cp:revision>
  <dcterms:created xsi:type="dcterms:W3CDTF">2026-10-01T02:49:56Z</dcterms:created>
  <dcterms:modified xsi:type="dcterms:W3CDTF">2026-10-01T03:01:31Z</dcterms:modified>
</cp:coreProperties>
</file>